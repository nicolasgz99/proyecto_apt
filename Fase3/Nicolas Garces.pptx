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mpact" charset="1" panose="020B0806030902050204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 Medium" charset="1" panose="00000600000000000000"/>
      <p:regular r:id="rId23"/>
    </p:embeddedFont>
    <p:embeddedFont>
      <p:font typeface="Open Sans" charset="1" panose="020B0606030504020204"/>
      <p:regular r:id="rId24"/>
    </p:embeddedFont>
    <p:embeddedFont>
      <p:font typeface="Anton" charset="1" panose="00000500000000000000"/>
      <p:regular r:id="rId25"/>
    </p:embeddedFont>
    <p:embeddedFont>
      <p:font typeface="Open Sans Bold" charset="1" panose="020B08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7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36.png" Type="http://schemas.openxmlformats.org/officeDocument/2006/relationships/image"/><Relationship Id="rId8" Target="https://www.regiondigitaldeantofagasta.cl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70019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3676731"/>
            <a:ext cx="14319257" cy="284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E-CHILEDIGITAL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79464" y="3034195"/>
            <a:ext cx="3729071" cy="918284"/>
          </a:xfrm>
          <a:custGeom>
            <a:avLst/>
            <a:gdLst/>
            <a:ahLst/>
            <a:cxnLst/>
            <a:rect r="r" b="b" t="t" l="l"/>
            <a:pathLst>
              <a:path h="918284" w="3729071">
                <a:moveTo>
                  <a:pt x="0" y="0"/>
                </a:moveTo>
                <a:lnTo>
                  <a:pt x="3729072" y="0"/>
                </a:lnTo>
                <a:lnTo>
                  <a:pt x="3729072" y="918284"/>
                </a:lnTo>
                <a:lnTo>
                  <a:pt x="0" y="918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9905" y="7194056"/>
            <a:ext cx="3722230" cy="958474"/>
          </a:xfrm>
          <a:custGeom>
            <a:avLst/>
            <a:gdLst/>
            <a:ahLst/>
            <a:cxnLst/>
            <a:rect r="r" b="b" t="t" l="l"/>
            <a:pathLst>
              <a:path h="958474" w="3722230">
                <a:moveTo>
                  <a:pt x="0" y="0"/>
                </a:moveTo>
                <a:lnTo>
                  <a:pt x="3722230" y="0"/>
                </a:lnTo>
                <a:lnTo>
                  <a:pt x="3722230" y="958474"/>
                </a:lnTo>
                <a:lnTo>
                  <a:pt x="0" y="9584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84950" y="6160443"/>
            <a:ext cx="5318100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Capstone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21853" y="2089310"/>
            <a:ext cx="2948680" cy="2959442"/>
          </a:xfrm>
          <a:custGeom>
            <a:avLst/>
            <a:gdLst/>
            <a:ahLst/>
            <a:cxnLst/>
            <a:rect r="r" b="b" t="t" l="l"/>
            <a:pathLst>
              <a:path h="2959442" w="2948680">
                <a:moveTo>
                  <a:pt x="0" y="0"/>
                </a:moveTo>
                <a:lnTo>
                  <a:pt x="2948680" y="0"/>
                </a:lnTo>
                <a:lnTo>
                  <a:pt x="2948680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6508" y="-938824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2825" y="5584596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97508" y="-3641309"/>
            <a:ext cx="7215185" cy="7215185"/>
          </a:xfrm>
          <a:custGeom>
            <a:avLst/>
            <a:gdLst/>
            <a:ahLst/>
            <a:cxnLst/>
            <a:rect r="r" b="b" t="t" l="l"/>
            <a:pathLst>
              <a:path h="7215185" w="7215185">
                <a:moveTo>
                  <a:pt x="0" y="0"/>
                </a:moveTo>
                <a:lnTo>
                  <a:pt x="7215185" y="0"/>
                </a:lnTo>
                <a:lnTo>
                  <a:pt x="7215185" y="7215185"/>
                </a:lnTo>
                <a:lnTo>
                  <a:pt x="0" y="7215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7506" y="3656987"/>
            <a:ext cx="2025129" cy="2158568"/>
          </a:xfrm>
          <a:custGeom>
            <a:avLst/>
            <a:gdLst/>
            <a:ahLst/>
            <a:cxnLst/>
            <a:rect r="r" b="b" t="t" l="l"/>
            <a:pathLst>
              <a:path h="2158568" w="2025129">
                <a:moveTo>
                  <a:pt x="0" y="0"/>
                </a:moveTo>
                <a:lnTo>
                  <a:pt x="2025129" y="0"/>
                </a:lnTo>
                <a:lnTo>
                  <a:pt x="2025129" y="2158567"/>
                </a:lnTo>
                <a:lnTo>
                  <a:pt x="0" y="2158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23547" y="1955960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EQUIPO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52762" y="6471863"/>
            <a:ext cx="3594618" cy="45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b="true" sz="26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Carlos Vargas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7385" y="6871915"/>
            <a:ext cx="4265372" cy="6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b="true" sz="179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Roles: Product Owner   </a:t>
            </a:r>
          </a:p>
          <a:p>
            <a:pPr algn="ctr">
              <a:lnSpc>
                <a:spcPts val="250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92595" y="6471863"/>
            <a:ext cx="3594618" cy="45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b="true" sz="26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Nicolas Garces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5623" y="6871915"/>
            <a:ext cx="4728563" cy="95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b="true" sz="179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Roles: Scrum Master I Development Team I Frontend Dev </a:t>
            </a:r>
          </a:p>
          <a:p>
            <a:pPr algn="ctr">
              <a:lnSpc>
                <a:spcPts val="2508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277340" y="3656987"/>
            <a:ext cx="2025129" cy="2158568"/>
          </a:xfrm>
          <a:custGeom>
            <a:avLst/>
            <a:gdLst/>
            <a:ahLst/>
            <a:cxnLst/>
            <a:rect r="r" b="b" t="t" l="l"/>
            <a:pathLst>
              <a:path h="2158568" w="2025129">
                <a:moveTo>
                  <a:pt x="0" y="0"/>
                </a:moveTo>
                <a:lnTo>
                  <a:pt x="2025129" y="0"/>
                </a:lnTo>
                <a:lnTo>
                  <a:pt x="2025129" y="2158567"/>
                </a:lnTo>
                <a:lnTo>
                  <a:pt x="0" y="2158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06460" y="-37202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01529">
            <a:off x="-1332119" y="6078901"/>
            <a:ext cx="3591979" cy="7870870"/>
          </a:xfrm>
          <a:custGeom>
            <a:avLst/>
            <a:gdLst/>
            <a:ahLst/>
            <a:cxnLst/>
            <a:rect r="r" b="b" t="t" l="l"/>
            <a:pathLst>
              <a:path h="7870870" w="3591979">
                <a:moveTo>
                  <a:pt x="0" y="0"/>
                </a:moveTo>
                <a:lnTo>
                  <a:pt x="3591979" y="0"/>
                </a:lnTo>
                <a:lnTo>
                  <a:pt x="3591979" y="7870870"/>
                </a:lnTo>
                <a:lnTo>
                  <a:pt x="0" y="787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54186" y="-2011358"/>
            <a:ext cx="3770921" cy="3770921"/>
          </a:xfrm>
          <a:custGeom>
            <a:avLst/>
            <a:gdLst/>
            <a:ahLst/>
            <a:cxnLst/>
            <a:rect r="r" b="b" t="t" l="l"/>
            <a:pathLst>
              <a:path h="3770921" w="3770921">
                <a:moveTo>
                  <a:pt x="0" y="0"/>
                </a:moveTo>
                <a:lnTo>
                  <a:pt x="3770921" y="0"/>
                </a:lnTo>
                <a:lnTo>
                  <a:pt x="3770921" y="3770921"/>
                </a:lnTo>
                <a:lnTo>
                  <a:pt x="0" y="3770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2556" y="761477"/>
            <a:ext cx="12234476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CONTEXTO Y PROPUESTA DE VALOR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9554">
            <a:off x="14004891" y="3997713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6"/>
                </a:lnTo>
                <a:lnTo>
                  <a:pt x="0" y="1080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19097" y="6852006"/>
            <a:ext cx="8815289" cy="261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7"/>
              </a:lnSpc>
            </a:pPr>
            <a:r>
              <a:rPr lang="en-US" sz="2091">
                <a:solidFill>
                  <a:srgbClr val="09AFF4"/>
                </a:solidFill>
                <a:latin typeface="Poppins"/>
                <a:ea typeface="Poppins"/>
                <a:cs typeface="Poppins"/>
                <a:sym typeface="Poppins"/>
              </a:rPr>
              <a:t>Propuesta de solución:</a:t>
            </a:r>
          </a:p>
          <a:p>
            <a:pPr algn="just">
              <a:lnSpc>
                <a:spcPts val="2927"/>
              </a:lnSpc>
            </a:pPr>
            <a:r>
              <a:rPr lang="en-US" sz="20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web inteligente que integra:</a:t>
            </a:r>
          </a:p>
          <a:p>
            <a:pPr algn="just">
              <a:lnSpc>
                <a:spcPts val="2927"/>
              </a:lnSpc>
            </a:pPr>
          </a:p>
          <a:p>
            <a:pPr algn="just">
              <a:lnSpc>
                <a:spcPts val="2927"/>
              </a:lnSpc>
            </a:pPr>
            <a:r>
              <a:rPr lang="en-US" sz="20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y geolocalización de empresas.</a:t>
            </a:r>
          </a:p>
          <a:p>
            <a:pPr algn="just">
              <a:lnSpc>
                <a:spcPts val="2927"/>
              </a:lnSpc>
            </a:pPr>
            <a:r>
              <a:rPr lang="en-US" sz="20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Información cívica y territorial.</a:t>
            </a:r>
          </a:p>
          <a:p>
            <a:pPr algn="just">
              <a:lnSpc>
                <a:spcPts val="2927"/>
              </a:lnSpc>
            </a:pPr>
            <a:r>
              <a:rPr lang="en-US" sz="20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Herramientas IA y analítica digital.</a:t>
            </a:r>
          </a:p>
          <a:p>
            <a:pPr algn="just">
              <a:lnSpc>
                <a:spcPts val="2927"/>
              </a:lnSpc>
            </a:pPr>
            <a:r>
              <a:rPr lang="en-US" sz="20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Formación ciudadana para estudiantes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40452" y="4624652"/>
            <a:ext cx="385762" cy="1094465"/>
            <a:chOff x="0" y="0"/>
            <a:chExt cx="514350" cy="1459286"/>
          </a:xfrm>
        </p:grpSpPr>
        <p:sp>
          <p:nvSpPr>
            <p:cNvPr name="AutoShape 9" id="9"/>
            <p:cNvSpPr/>
            <p:nvPr/>
          </p:nvSpPr>
          <p:spPr>
            <a:xfrm flipV="true">
              <a:off x="0" y="19050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0" id="10"/>
            <p:cNvSpPr/>
            <p:nvPr/>
          </p:nvSpPr>
          <p:spPr>
            <a:xfrm flipV="true">
              <a:off x="0" y="504425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0" y="982491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2" id="12"/>
            <p:cNvSpPr/>
            <p:nvPr/>
          </p:nvSpPr>
          <p:spPr>
            <a:xfrm flipV="true">
              <a:off x="0" y="1440236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519097" y="3695993"/>
            <a:ext cx="8815289" cy="254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3"/>
              </a:lnSpc>
            </a:pPr>
            <a:r>
              <a:rPr lang="en-US" sz="2088">
                <a:solidFill>
                  <a:srgbClr val="09AFF4"/>
                </a:solidFill>
                <a:latin typeface="Poppins"/>
                <a:ea typeface="Poppins"/>
                <a:cs typeface="Poppins"/>
                <a:sym typeface="Poppins"/>
              </a:rPr>
              <a:t>Problema o dolor:</a:t>
            </a:r>
          </a:p>
          <a:p>
            <a:pPr algn="just">
              <a:lnSpc>
                <a:spcPts val="2923"/>
              </a:lnSpc>
            </a:pPr>
          </a:p>
          <a:p>
            <a:pPr algn="just">
              <a:lnSpc>
                <a:spcPts val="2923"/>
              </a:lnSpc>
            </a:pPr>
            <a:r>
              <a:rPr lang="en-US" sz="2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Baja visibilidad digital de PYMES regionales.</a:t>
            </a:r>
          </a:p>
          <a:p>
            <a:pPr algn="just">
              <a:lnSpc>
                <a:spcPts val="2923"/>
              </a:lnSpc>
            </a:pPr>
            <a:r>
              <a:rPr lang="en-US" sz="2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Información pública y territorial dispersa.</a:t>
            </a:r>
          </a:p>
          <a:p>
            <a:pPr algn="just">
              <a:lnSpc>
                <a:spcPts val="2923"/>
              </a:lnSpc>
            </a:pPr>
            <a:r>
              <a:rPr lang="en-US" sz="2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Escasa integración tecnológica regional.</a:t>
            </a:r>
          </a:p>
          <a:p>
            <a:pPr algn="just">
              <a:lnSpc>
                <a:spcPts val="2923"/>
              </a:lnSpc>
            </a:pPr>
            <a:r>
              <a:rPr lang="en-US" sz="2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educacion en formacion ciudadana de los estudiantes. </a:t>
            </a:r>
          </a:p>
          <a:p>
            <a:pPr algn="just">
              <a:lnSpc>
                <a:spcPts val="2923"/>
              </a:lnSpc>
            </a:pPr>
          </a:p>
        </p:txBody>
      </p:sp>
      <p:sp>
        <p:nvSpPr>
          <p:cNvPr name="AutoShape 14" id="14"/>
          <p:cNvSpPr/>
          <p:nvPr/>
        </p:nvSpPr>
        <p:spPr>
          <a:xfrm flipV="true">
            <a:off x="2940452" y="8206405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2940452" y="8570437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 flipV="true">
            <a:off x="2940452" y="8928986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V="true">
            <a:off x="2940452" y="9272295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49336">
            <a:off x="-1453578" y="6696101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98091" y="-411480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38149" y="2858476"/>
            <a:ext cx="10811702" cy="182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09AFF4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</a:p>
          <a:p>
            <a:pPr algn="ctr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Diseñar una plataforma digital inteligente para fortalecer la transformación digital y territorial de la Región de Antofagasta.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5409" y="1137722"/>
            <a:ext cx="12072025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DESCRIPCION DEL PROYECTO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549851" y="7006529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59281" y="5276397"/>
            <a:ext cx="7569437" cy="457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09AFF4"/>
                </a:solidFill>
                <a:latin typeface="Poppins"/>
                <a:ea typeface="Poppins"/>
                <a:cs typeface="Poppins"/>
                <a:sym typeface="Poppins"/>
              </a:rPr>
              <a:t>Objetivos Especificos:</a:t>
            </a:r>
          </a:p>
          <a:p>
            <a:pPr algn="ctr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09AF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Geolocalizar empresas regionales.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Facilitar conexión entre usuarios y PYMES.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Fortalecer la identidad territorial regional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Incorporar recursos digitales innovadores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Promover la formación ciudadana 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Facilitar el conocimiento de la organización del Estado de Chile</a:t>
            </a:r>
          </a:p>
          <a:p>
            <a:pPr algn="l">
              <a:lnSpc>
                <a:spcPts val="3621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4973519" y="6482918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V="true">
            <a:off x="4973519" y="6919434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V="true">
            <a:off x="4973519" y="7367622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V="true">
            <a:off x="4973519" y="7815297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4973519" y="8262972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4973519" y="8710647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6744796" y="-6970732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09541" y="91879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71445" y="-4994471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95749" y="1049209"/>
            <a:ext cx="12517089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ALCANCE Y LIMITACIONES DEL PROYECTO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4605006" y="638937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74293" y="3755648"/>
            <a:ext cx="9025517" cy="3307148"/>
            <a:chOff x="0" y="0"/>
            <a:chExt cx="12034023" cy="440953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659249" y="-57150"/>
              <a:ext cx="11374774" cy="4466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7"/>
                </a:lnSpc>
              </a:pPr>
            </a:p>
            <a:p>
              <a:pPr algn="l">
                <a:lnSpc>
                  <a:spcPts val="2957"/>
                </a:lnSpc>
              </a:pPr>
              <a:r>
                <a:rPr lang="en-US" sz="2112">
                  <a:solidFill>
                    <a:srgbClr val="09AFF4"/>
                  </a:solidFill>
                  <a:latin typeface="Poppins"/>
                  <a:ea typeface="Poppins"/>
                  <a:cs typeface="Poppins"/>
                  <a:sym typeface="Poppins"/>
                </a:rPr>
                <a:t>Alcance:</a:t>
              </a:r>
            </a:p>
            <a:p>
              <a:pPr algn="l">
                <a:lnSpc>
                  <a:spcPts val="2957"/>
                </a:lnSpc>
              </a:pPr>
              <a:r>
                <a:rPr lang="en-US" sz="21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Registro y visualización de empresas vinculadas a la Región de Antofagasta.</a:t>
              </a:r>
            </a:p>
            <a:p>
              <a:pPr algn="l">
                <a:lnSpc>
                  <a:spcPts val="2957"/>
                </a:lnSpc>
              </a:pPr>
              <a:r>
                <a:rPr lang="en-US" sz="21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Ubicación de empresas mediante un mapa interactivo.</a:t>
              </a:r>
            </a:p>
            <a:p>
              <a:pPr algn="l">
                <a:lnSpc>
                  <a:spcPts val="2957"/>
                </a:lnSpc>
              </a:pPr>
              <a:r>
                <a:rPr lang="en-US" sz="21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Incorporación de dashboard y analítica para visualizar datos relevantes del sitio web.</a:t>
              </a:r>
            </a:p>
            <a:p>
              <a:pPr algn="l">
                <a:lnSpc>
                  <a:spcPts val="2957"/>
                </a:lnSpc>
              </a:pPr>
              <a:r>
                <a:rPr lang="en-US" sz="21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Acceso a recursos digitales e informativos para apoyar el aprendizaje y la participación ciudadana.</a:t>
              </a:r>
            </a:p>
          </p:txBody>
        </p:sp>
        <p:sp>
          <p:nvSpPr>
            <p:cNvPr name="AutoShape 9" id="9"/>
            <p:cNvSpPr/>
            <p:nvPr/>
          </p:nvSpPr>
          <p:spPr>
            <a:xfrm flipV="true">
              <a:off x="0" y="1222927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0" id="10"/>
            <p:cNvSpPr/>
            <p:nvPr/>
          </p:nvSpPr>
          <p:spPr>
            <a:xfrm flipV="true">
              <a:off x="0" y="2204765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0" y="2719286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2" id="12"/>
            <p:cNvSpPr/>
            <p:nvPr/>
          </p:nvSpPr>
          <p:spPr>
            <a:xfrm flipV="true">
              <a:off x="0" y="3760686"/>
              <a:ext cx="514350" cy="0"/>
            </a:xfrm>
            <a:prstGeom prst="line">
              <a:avLst/>
            </a:prstGeom>
            <a:ln cap="flat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74293" y="7197023"/>
            <a:ext cx="13879893" cy="2221326"/>
            <a:chOff x="0" y="0"/>
            <a:chExt cx="18506524" cy="296176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669633" y="-66675"/>
              <a:ext cx="17836890" cy="3028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4"/>
                </a:lnSpc>
              </a:pPr>
            </a:p>
            <a:p>
              <a:pPr algn="l">
                <a:lnSpc>
                  <a:spcPts val="3004"/>
                </a:lnSpc>
              </a:pPr>
              <a:r>
                <a:rPr lang="en-US" sz="2145">
                  <a:solidFill>
                    <a:srgbClr val="09AFF4"/>
                  </a:solidFill>
                  <a:latin typeface="Poppins"/>
                  <a:ea typeface="Poppins"/>
                  <a:cs typeface="Poppins"/>
                  <a:sym typeface="Poppins"/>
                </a:rPr>
                <a:t>Limitaciones:</a:t>
              </a:r>
            </a:p>
            <a:p>
              <a:pPr algn="l">
                <a:lnSpc>
                  <a:spcPts val="3004"/>
                </a:lnSpc>
              </a:pPr>
              <a:r>
                <a:rPr lang="en-US" sz="214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 cobertura inicial del proyecto se enfoca únicamente en la Región de Antofagasta.</a:t>
              </a:r>
            </a:p>
            <a:p>
              <a:pPr algn="l">
                <a:lnSpc>
                  <a:spcPts val="3004"/>
                </a:lnSpc>
              </a:pPr>
              <a:r>
                <a:rPr lang="en-US" sz="214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Algunas funcionalidades avanzadas pueden quedar proyectadas para futuras versiones del sitio web.</a:t>
              </a:r>
            </a:p>
            <a:p>
              <a:pPr algn="l">
                <a:lnSpc>
                  <a:spcPts val="3004"/>
                </a:lnSpc>
              </a:pPr>
            </a:p>
          </p:txBody>
        </p:sp>
        <p:sp>
          <p:nvSpPr>
            <p:cNvPr name="AutoShape 15" id="15"/>
            <p:cNvSpPr/>
            <p:nvPr/>
          </p:nvSpPr>
          <p:spPr>
            <a:xfrm flipV="true">
              <a:off x="0" y="1233633"/>
              <a:ext cx="522452" cy="0"/>
            </a:xfrm>
            <a:prstGeom prst="line">
              <a:avLst/>
            </a:prstGeom>
            <a:ln cap="flat" w="387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6" id="16"/>
            <p:cNvSpPr/>
            <p:nvPr/>
          </p:nvSpPr>
          <p:spPr>
            <a:xfrm flipV="true">
              <a:off x="0" y="1762535"/>
              <a:ext cx="522452" cy="0"/>
            </a:xfrm>
            <a:prstGeom prst="line">
              <a:avLst/>
            </a:prstGeom>
            <a:ln cap="flat" w="387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631603">
            <a:off x="635673" y="578077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2506" y="1070071"/>
            <a:ext cx="12733643" cy="2527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2"/>
              </a:lnSpc>
            </a:pPr>
            <a:r>
              <a:rPr lang="en-US" sz="822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METODOLOGIA DE TRABAJO PARA EL DESARROLLO DEL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784164" y="578077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19204" y="-332383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00552" y="3530860"/>
            <a:ext cx="600462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Metodologia Utilizada: </a:t>
            </a:r>
            <a:r>
              <a:rPr lang="en-US" sz="3399">
                <a:solidFill>
                  <a:srgbClr val="09AFF4"/>
                </a:solidFill>
                <a:latin typeface="Open Sans"/>
                <a:ea typeface="Open Sans"/>
                <a:cs typeface="Open Sans"/>
                <a:sym typeface="Open Sans"/>
              </a:rPr>
              <a:t>Scrum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0552" y="4890626"/>
            <a:ext cx="1364411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Cantidad Sprints: </a:t>
            </a:r>
            <a:r>
              <a:rPr lang="en-US" sz="3399">
                <a:solidFill>
                  <a:srgbClr val="09AFF4"/>
                </a:solidFill>
                <a:latin typeface="Open Sans"/>
                <a:ea typeface="Open Sans"/>
                <a:cs typeface="Open Sans"/>
                <a:sym typeface="Open Sans"/>
              </a:rPr>
              <a:t>4 Sprints.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Duracion de Sprints: </a:t>
            </a:r>
            <a:r>
              <a:rPr lang="en-US" sz="3399">
                <a:solidFill>
                  <a:srgbClr val="09AFF4"/>
                </a:solidFill>
                <a:latin typeface="Open Sans"/>
                <a:ea typeface="Open Sans"/>
                <a:cs typeface="Open Sans"/>
                <a:sym typeface="Open Sans"/>
              </a:rPr>
              <a:t>3 Semanas.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Reuniones semanales junto al Product Owner para revisar avances.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53562" y="6063438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80922" y="-3460452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69744" y="1028700"/>
            <a:ext cx="9345797" cy="9092388"/>
          </a:xfrm>
          <a:custGeom>
            <a:avLst/>
            <a:gdLst/>
            <a:ahLst/>
            <a:cxnLst/>
            <a:rect r="r" b="b" t="t" l="l"/>
            <a:pathLst>
              <a:path h="9092388" w="9345797">
                <a:moveTo>
                  <a:pt x="0" y="0"/>
                </a:moveTo>
                <a:lnTo>
                  <a:pt x="9345796" y="0"/>
                </a:lnTo>
                <a:lnTo>
                  <a:pt x="9345796" y="9092388"/>
                </a:lnTo>
                <a:lnTo>
                  <a:pt x="0" y="9092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61" r="0" b="-246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32510" y="2185580"/>
            <a:ext cx="8118986" cy="578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CRONOGRAMA PARA EL DESARROLLO DEL PROYECTO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91061" y="1914580"/>
            <a:ext cx="11905878" cy="7723836"/>
          </a:xfrm>
          <a:custGeom>
            <a:avLst/>
            <a:gdLst/>
            <a:ahLst/>
            <a:cxnLst/>
            <a:rect r="r" b="b" t="t" l="l"/>
            <a:pathLst>
              <a:path h="7723836" w="11905878">
                <a:moveTo>
                  <a:pt x="0" y="0"/>
                </a:moveTo>
                <a:lnTo>
                  <a:pt x="11905878" y="0"/>
                </a:lnTo>
                <a:lnTo>
                  <a:pt x="11905878" y="7723837"/>
                </a:lnTo>
                <a:lnTo>
                  <a:pt x="0" y="772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0178" y="711950"/>
            <a:ext cx="9295286" cy="93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7"/>
              </a:lnSpc>
            </a:pPr>
            <a:r>
              <a:rPr lang="en-US" sz="640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ARQUITECTURA DEL SOFTWARE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6909" y="7002722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288636">
            <a:off x="-2775334" y="3865044"/>
            <a:ext cx="8172675" cy="7759914"/>
          </a:xfrm>
          <a:custGeom>
            <a:avLst/>
            <a:gdLst/>
            <a:ahLst/>
            <a:cxnLst/>
            <a:rect r="r" b="b" t="t" l="l"/>
            <a:pathLst>
              <a:path h="7759914" w="8172675">
                <a:moveTo>
                  <a:pt x="0" y="0"/>
                </a:moveTo>
                <a:lnTo>
                  <a:pt x="8172675" y="0"/>
                </a:lnTo>
                <a:lnTo>
                  <a:pt x="8172675" y="7759914"/>
                </a:lnTo>
                <a:lnTo>
                  <a:pt x="0" y="7759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51811" y="1487277"/>
            <a:ext cx="11984378" cy="8224280"/>
          </a:xfrm>
          <a:custGeom>
            <a:avLst/>
            <a:gdLst/>
            <a:ahLst/>
            <a:cxnLst/>
            <a:rect r="r" b="b" t="t" l="l"/>
            <a:pathLst>
              <a:path h="8224280" w="11984378">
                <a:moveTo>
                  <a:pt x="0" y="0"/>
                </a:moveTo>
                <a:lnTo>
                  <a:pt x="11984378" y="0"/>
                </a:lnTo>
                <a:lnTo>
                  <a:pt x="11984378" y="8224280"/>
                </a:lnTo>
                <a:lnTo>
                  <a:pt x="0" y="8224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031" y="156755"/>
            <a:ext cx="8473490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MODELO DE DATOS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5532" y="-10193917"/>
            <a:ext cx="23054237" cy="23054237"/>
          </a:xfrm>
          <a:custGeom>
            <a:avLst/>
            <a:gdLst/>
            <a:ahLst/>
            <a:cxnLst/>
            <a:rect r="r" b="b" t="t" l="l"/>
            <a:pathLst>
              <a:path h="23054237" w="23054237">
                <a:moveTo>
                  <a:pt x="0" y="0"/>
                </a:moveTo>
                <a:lnTo>
                  <a:pt x="23054237" y="0"/>
                </a:lnTo>
                <a:lnTo>
                  <a:pt x="23054237" y="23054238"/>
                </a:lnTo>
                <a:lnTo>
                  <a:pt x="0" y="23054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01441" y="-7978546"/>
            <a:ext cx="20089930" cy="20089930"/>
          </a:xfrm>
          <a:custGeom>
            <a:avLst/>
            <a:gdLst/>
            <a:ahLst/>
            <a:cxnLst/>
            <a:rect r="r" b="b" t="t" l="l"/>
            <a:pathLst>
              <a:path h="20089930" w="20089930">
                <a:moveTo>
                  <a:pt x="0" y="0"/>
                </a:moveTo>
                <a:lnTo>
                  <a:pt x="20089930" y="0"/>
                </a:lnTo>
                <a:lnTo>
                  <a:pt x="20089930" y="20089930"/>
                </a:lnTo>
                <a:lnTo>
                  <a:pt x="0" y="20089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93721" y="6887927"/>
            <a:ext cx="4118128" cy="1441345"/>
          </a:xfrm>
          <a:custGeom>
            <a:avLst/>
            <a:gdLst/>
            <a:ahLst/>
            <a:cxnLst/>
            <a:rect r="r" b="b" t="t" l="l"/>
            <a:pathLst>
              <a:path h="1441345" w="4118128">
                <a:moveTo>
                  <a:pt x="0" y="0"/>
                </a:moveTo>
                <a:lnTo>
                  <a:pt x="4118129" y="0"/>
                </a:lnTo>
                <a:lnTo>
                  <a:pt x="4118129" y="1441345"/>
                </a:lnTo>
                <a:lnTo>
                  <a:pt x="0" y="144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12920" y="4453023"/>
            <a:ext cx="4343498" cy="1645100"/>
          </a:xfrm>
          <a:custGeom>
            <a:avLst/>
            <a:gdLst/>
            <a:ahLst/>
            <a:cxnLst/>
            <a:rect r="r" b="b" t="t" l="l"/>
            <a:pathLst>
              <a:path h="1645100" w="4343498">
                <a:moveTo>
                  <a:pt x="0" y="0"/>
                </a:moveTo>
                <a:lnTo>
                  <a:pt x="4343498" y="0"/>
                </a:lnTo>
                <a:lnTo>
                  <a:pt x="4343498" y="1645100"/>
                </a:lnTo>
                <a:lnTo>
                  <a:pt x="0" y="1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87759" y="6646097"/>
            <a:ext cx="1645100" cy="1645100"/>
          </a:xfrm>
          <a:custGeom>
            <a:avLst/>
            <a:gdLst/>
            <a:ahLst/>
            <a:cxnLst/>
            <a:rect r="r" b="b" t="t" l="l"/>
            <a:pathLst>
              <a:path h="1645100" w="1645100">
                <a:moveTo>
                  <a:pt x="0" y="0"/>
                </a:moveTo>
                <a:lnTo>
                  <a:pt x="1645100" y="0"/>
                </a:lnTo>
                <a:lnTo>
                  <a:pt x="1645100" y="1645099"/>
                </a:lnTo>
                <a:lnTo>
                  <a:pt x="0" y="164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16607" y="6682158"/>
            <a:ext cx="1572976" cy="1572976"/>
          </a:xfrm>
          <a:custGeom>
            <a:avLst/>
            <a:gdLst/>
            <a:ahLst/>
            <a:cxnLst/>
            <a:rect r="r" b="b" t="t" l="l"/>
            <a:pathLst>
              <a:path h="1572976" w="1572976">
                <a:moveTo>
                  <a:pt x="0" y="0"/>
                </a:moveTo>
                <a:lnTo>
                  <a:pt x="1572977" y="0"/>
                </a:lnTo>
                <a:lnTo>
                  <a:pt x="1572977" y="1572977"/>
                </a:lnTo>
                <a:lnTo>
                  <a:pt x="0" y="15729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38157" y="5197859"/>
            <a:ext cx="5411687" cy="1332628"/>
          </a:xfrm>
          <a:custGeom>
            <a:avLst/>
            <a:gdLst/>
            <a:ahLst/>
            <a:cxnLst/>
            <a:rect r="r" b="b" t="t" l="l"/>
            <a:pathLst>
              <a:path h="1332628" w="5411687">
                <a:moveTo>
                  <a:pt x="0" y="0"/>
                </a:moveTo>
                <a:lnTo>
                  <a:pt x="5411686" y="0"/>
                </a:lnTo>
                <a:lnTo>
                  <a:pt x="5411686" y="1332627"/>
                </a:lnTo>
                <a:lnTo>
                  <a:pt x="0" y="133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163054" y="7028525"/>
            <a:ext cx="2271500" cy="1226610"/>
          </a:xfrm>
          <a:custGeom>
            <a:avLst/>
            <a:gdLst/>
            <a:ahLst/>
            <a:cxnLst/>
            <a:rect r="r" b="b" t="t" l="l"/>
            <a:pathLst>
              <a:path h="1226610" w="2271500">
                <a:moveTo>
                  <a:pt x="0" y="0"/>
                </a:moveTo>
                <a:lnTo>
                  <a:pt x="2271500" y="0"/>
                </a:lnTo>
                <a:lnTo>
                  <a:pt x="2271500" y="1226610"/>
                </a:lnTo>
                <a:lnTo>
                  <a:pt x="0" y="1226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72712" y="6608021"/>
            <a:ext cx="1342576" cy="1721251"/>
          </a:xfrm>
          <a:custGeom>
            <a:avLst/>
            <a:gdLst/>
            <a:ahLst/>
            <a:cxnLst/>
            <a:rect r="r" b="b" t="t" l="l"/>
            <a:pathLst>
              <a:path h="1721251" w="1342576">
                <a:moveTo>
                  <a:pt x="0" y="0"/>
                </a:moveTo>
                <a:lnTo>
                  <a:pt x="1342576" y="0"/>
                </a:lnTo>
                <a:lnTo>
                  <a:pt x="1342576" y="1721251"/>
                </a:lnTo>
                <a:lnTo>
                  <a:pt x="0" y="17212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50368" y="648876"/>
            <a:ext cx="10681086" cy="3114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2"/>
              </a:lnSpc>
            </a:pPr>
            <a:r>
              <a:rPr lang="en-US" sz="1015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TECNOLOGÍAS UTILIZADAS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73945" y="-6995335"/>
            <a:ext cx="8716966" cy="8716966"/>
          </a:xfrm>
          <a:custGeom>
            <a:avLst/>
            <a:gdLst/>
            <a:ahLst/>
            <a:cxnLst/>
            <a:rect r="r" b="b" t="t" l="l"/>
            <a:pathLst>
              <a:path h="8716966" w="8716966">
                <a:moveTo>
                  <a:pt x="0" y="0"/>
                </a:moveTo>
                <a:lnTo>
                  <a:pt x="8716966" y="0"/>
                </a:lnTo>
                <a:lnTo>
                  <a:pt x="8716966" y="8716967"/>
                </a:lnTo>
                <a:lnTo>
                  <a:pt x="0" y="8716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09646" y="4059024"/>
            <a:ext cx="3191795" cy="1062634"/>
          </a:xfrm>
          <a:custGeom>
            <a:avLst/>
            <a:gdLst/>
            <a:ahLst/>
            <a:cxnLst/>
            <a:rect r="r" b="b" t="t" l="l"/>
            <a:pathLst>
              <a:path h="1062634" w="3191795">
                <a:moveTo>
                  <a:pt x="0" y="0"/>
                </a:moveTo>
                <a:lnTo>
                  <a:pt x="3191795" y="0"/>
                </a:lnTo>
                <a:lnTo>
                  <a:pt x="3191795" y="1062635"/>
                </a:lnTo>
                <a:lnTo>
                  <a:pt x="0" y="10626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46767" y="5143500"/>
            <a:ext cx="4124690" cy="1166985"/>
          </a:xfrm>
          <a:custGeom>
            <a:avLst/>
            <a:gdLst/>
            <a:ahLst/>
            <a:cxnLst/>
            <a:rect r="r" b="b" t="t" l="l"/>
            <a:pathLst>
              <a:path h="1166985" w="4124690">
                <a:moveTo>
                  <a:pt x="0" y="0"/>
                </a:moveTo>
                <a:lnTo>
                  <a:pt x="4124690" y="0"/>
                </a:lnTo>
                <a:lnTo>
                  <a:pt x="4124690" y="1166985"/>
                </a:lnTo>
                <a:lnTo>
                  <a:pt x="0" y="11669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8944" y="3790969"/>
            <a:ext cx="3030111" cy="2705063"/>
          </a:xfrm>
          <a:custGeom>
            <a:avLst/>
            <a:gdLst/>
            <a:ahLst/>
            <a:cxnLst/>
            <a:rect r="r" b="b" t="t" l="l"/>
            <a:pathLst>
              <a:path h="2705063" w="3030111">
                <a:moveTo>
                  <a:pt x="0" y="0"/>
                </a:moveTo>
                <a:lnTo>
                  <a:pt x="3030112" y="0"/>
                </a:lnTo>
                <a:lnTo>
                  <a:pt x="3030112" y="2705062"/>
                </a:lnTo>
                <a:lnTo>
                  <a:pt x="0" y="270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3522" y="-40576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30200" y="281311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754" y="749144"/>
            <a:ext cx="17958492" cy="313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4"/>
              </a:lnSpc>
            </a:pPr>
            <a:r>
              <a:rPr lang="en-US" sz="1022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DEMOSTRACIÓN DEL RESULTADO DEL PROYECTO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>
            <a:hlinkClick r:id="rId8" tooltip="https://www.regiondigitaldeantofagasta.cl"/>
          </p:cNvPr>
          <p:cNvSpPr/>
          <p:nvPr/>
        </p:nvSpPr>
        <p:spPr>
          <a:xfrm flipH="false" flipV="false" rot="0">
            <a:off x="8517216" y="7036644"/>
            <a:ext cx="1253568" cy="1487915"/>
          </a:xfrm>
          <a:custGeom>
            <a:avLst/>
            <a:gdLst/>
            <a:ahLst/>
            <a:cxnLst/>
            <a:rect r="r" b="b" t="t" l="l"/>
            <a:pathLst>
              <a:path h="1487915" w="1253568">
                <a:moveTo>
                  <a:pt x="0" y="0"/>
                </a:moveTo>
                <a:lnTo>
                  <a:pt x="1253568" y="0"/>
                </a:lnTo>
                <a:lnTo>
                  <a:pt x="1253568" y="1487915"/>
                </a:lnTo>
                <a:lnTo>
                  <a:pt x="0" y="14879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5417" y="3419205"/>
            <a:ext cx="12407323" cy="12407323"/>
          </a:xfrm>
          <a:custGeom>
            <a:avLst/>
            <a:gdLst/>
            <a:ahLst/>
            <a:cxnLst/>
            <a:rect r="r" b="b" t="t" l="l"/>
            <a:pathLst>
              <a:path h="12407323" w="12407323">
                <a:moveTo>
                  <a:pt x="0" y="0"/>
                </a:moveTo>
                <a:lnTo>
                  <a:pt x="12407323" y="0"/>
                </a:lnTo>
                <a:lnTo>
                  <a:pt x="12407323" y="12407323"/>
                </a:lnTo>
                <a:lnTo>
                  <a:pt x="0" y="1240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57650" y="-34720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20779">
            <a:off x="11541891" y="5682474"/>
            <a:ext cx="11635266" cy="10662135"/>
          </a:xfrm>
          <a:custGeom>
            <a:avLst/>
            <a:gdLst/>
            <a:ahLst/>
            <a:cxnLst/>
            <a:rect r="r" b="b" t="t" l="l"/>
            <a:pathLst>
              <a:path h="10662135" w="11635266">
                <a:moveTo>
                  <a:pt x="0" y="0"/>
                </a:moveTo>
                <a:lnTo>
                  <a:pt x="11635266" y="0"/>
                </a:lnTo>
                <a:lnTo>
                  <a:pt x="11635266" y="10662135"/>
                </a:lnTo>
                <a:lnTo>
                  <a:pt x="0" y="10662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1042" y="914400"/>
            <a:ext cx="15231369" cy="3172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5"/>
              </a:lnSpc>
            </a:pPr>
            <a:r>
              <a:rPr lang="en-US" sz="604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Obstáculos present</a:t>
            </a:r>
            <a:r>
              <a:rPr lang="en-US" b="true" sz="60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ados durante el desarrollo</a:t>
            </a:r>
          </a:p>
          <a:p>
            <a:pPr algn="ctr">
              <a:lnSpc>
                <a:spcPts val="846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1180" y="4020051"/>
            <a:ext cx="63935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Organizacion de la informacion.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180" y="4709906"/>
            <a:ext cx="143458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Planificacion de los tiempos necesarios para la creacion de los modulos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204212" y="4357871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V="true">
            <a:off x="204212" y="5047726"/>
            <a:ext cx="385762" cy="0"/>
          </a:xfrm>
          <a:prstGeom prst="line">
            <a:avLst/>
          </a:prstGeom>
          <a:ln cap="flat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9233" y="547619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9266" y="312179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0"/>
                </a:moveTo>
                <a:lnTo>
                  <a:pt x="6532692" y="0"/>
                </a:lnTo>
                <a:lnTo>
                  <a:pt x="6532692" y="7879344"/>
                </a:lnTo>
                <a:lnTo>
                  <a:pt x="0" y="7879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5863" y="4604244"/>
            <a:ext cx="1364466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PREGUNTAS DE LA COMISIÓN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301181">
            <a:off x="9922920" y="5886034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7879343"/>
                </a:moveTo>
                <a:lnTo>
                  <a:pt x="6532692" y="7879343"/>
                </a:lnTo>
                <a:lnTo>
                  <a:pt x="6532692" y="0"/>
                </a:lnTo>
                <a:lnTo>
                  <a:pt x="0" y="0"/>
                </a:lnTo>
                <a:lnTo>
                  <a:pt x="0" y="7879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54186" y="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72" y="3726507"/>
            <a:ext cx="14319257" cy="254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MUCHAS GRACIAS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4950" y="6160443"/>
            <a:ext cx="5318100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E-CHILEDIGITAL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27093" y="3117430"/>
            <a:ext cx="3633814" cy="894827"/>
          </a:xfrm>
          <a:custGeom>
            <a:avLst/>
            <a:gdLst/>
            <a:ahLst/>
            <a:cxnLst/>
            <a:rect r="r" b="b" t="t" l="l"/>
            <a:pathLst>
              <a:path h="894827" w="3633814">
                <a:moveTo>
                  <a:pt x="0" y="0"/>
                </a:moveTo>
                <a:lnTo>
                  <a:pt x="3633814" y="0"/>
                </a:lnTo>
                <a:lnTo>
                  <a:pt x="3633814" y="894827"/>
                </a:lnTo>
                <a:lnTo>
                  <a:pt x="0" y="8948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82885" y="7104349"/>
            <a:ext cx="3722230" cy="958474"/>
          </a:xfrm>
          <a:custGeom>
            <a:avLst/>
            <a:gdLst/>
            <a:ahLst/>
            <a:cxnLst/>
            <a:rect r="r" b="b" t="t" l="l"/>
            <a:pathLst>
              <a:path h="958474" w="3722230">
                <a:moveTo>
                  <a:pt x="0" y="0"/>
                </a:moveTo>
                <a:lnTo>
                  <a:pt x="3722230" y="0"/>
                </a:lnTo>
                <a:lnTo>
                  <a:pt x="3722230" y="958474"/>
                </a:lnTo>
                <a:lnTo>
                  <a:pt x="0" y="9584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DAHMp2u3yNU</dc:identifier>
  <dcterms:modified xsi:type="dcterms:W3CDTF">2011-08-01T06:04:30Z</dcterms:modified>
  <cp:revision>1</cp:revision>
  <dc:title>Nicolas Garces</dc:title>
</cp:coreProperties>
</file>